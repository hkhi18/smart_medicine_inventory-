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67" y="609532"/>
            <a:ext cx="10566466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67" y="1361312"/>
            <a:ext cx="10566433" cy="468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67" y="609532"/>
            <a:ext cx="10566466" cy="446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67" y="1361312"/>
            <a:ext cx="10566433" cy="468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6238296"/>
            <a:ext cx="13036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8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Hanin Alhazmi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43157" y="812767"/>
            <a:ext cx="10889933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0B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King Faisal Specialist Hospital &amp; Research Centre · Supply Chain &amp; Data Analytics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767" y="2457400"/>
            <a:ext cx="10889933" cy="772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4F6F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Medicine Inventory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12767" y="3356570"/>
            <a:ext cx="10889933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C9D8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Drug tracking, demand forecasting and replenishment in one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767" y="5086284"/>
            <a:ext cx="1587120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0B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12767" y="5609497"/>
            <a:ext cx="1843584" cy="25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8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medicines tracked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58620" y="5086284"/>
            <a:ext cx="1638135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0B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1.05M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958620" y="5609497"/>
            <a:ext cx="1904802" cy="25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8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daily demand rows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55489" y="5086284"/>
            <a:ext cx="1651281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0B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155489" y="5609497"/>
            <a:ext cx="1920577" cy="25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8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forecasting models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65504" y="5086284"/>
            <a:ext cx="1636646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0B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973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365504" y="5609497"/>
            <a:ext cx="1903016" cy="25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9D8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medicines forecast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7" y="609533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42" y="1513946"/>
            <a:ext cx="3078857" cy="1318303"/>
          </a:xfrm>
          <a:prstGeom prst="roundRect">
            <a:avLst>
              <a:gd name="adj" fmla="val 7466"/>
            </a:avLst>
          </a:prstGeom>
          <a:solidFill>
            <a:srgbClr val="FFFFFF"/>
          </a:solidFill>
          <a:ln w="6350">
            <a:solidFill>
              <a:srgbClr val="D9DF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46592" y="1744596"/>
            <a:ext cx="2696083" cy="28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Browser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46592" y="2079790"/>
            <a:ext cx="2696083" cy="248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 pages and charts only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46592" y="2378770"/>
            <a:ext cx="2696083" cy="248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Never touches the database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50357" y="1888629"/>
            <a:ext cx="420787" cy="59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0B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556571" y="1364456"/>
            <a:ext cx="3078857" cy="1617282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 w="6350">
            <a:solidFill>
              <a:srgbClr val="D9DF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7222" y="1595107"/>
            <a:ext cx="2696083" cy="28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Next.js server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87222" y="1930301"/>
            <a:ext cx="2696083" cy="248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SQL runs here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87222" y="2229279"/>
            <a:ext cx="2696083" cy="248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models in lib/forecast.js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87222" y="2528259"/>
            <a:ext cx="2696083" cy="248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Credentials stay protected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90986" y="1888629"/>
            <a:ext cx="420787" cy="59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0B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8297201" y="1364456"/>
            <a:ext cx="3078857" cy="1617282"/>
          </a:xfrm>
          <a:prstGeom prst="roundRect">
            <a:avLst>
              <a:gd name="adj" fmla="val 6086"/>
            </a:avLst>
          </a:prstGeom>
          <a:solidFill>
            <a:srgbClr val="FFFFFF"/>
          </a:solidFill>
          <a:ln w="6350">
            <a:solidFill>
              <a:srgbClr val="D9DF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27852" y="1595107"/>
            <a:ext cx="2696083" cy="28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27852" y="1930301"/>
            <a:ext cx="2696083" cy="248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 server via DATABASE_URL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27852" y="2229279"/>
            <a:ext cx="2696083" cy="248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 embedded PGlite in pgdata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27852" y="2528259"/>
            <a:ext cx="2696083" cy="248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Same SQL in both modes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2767" y="3289680"/>
            <a:ext cx="10566466" cy="1025922"/>
          </a:xfrm>
          <a:prstGeom prst="roundRect">
            <a:avLst>
              <a:gd name="adj" fmla="val 9903"/>
            </a:avLst>
          </a:prstGeom>
          <a:solidFill>
            <a:srgbClr val="0B3D24"/>
          </a:solidFill>
          <a:ln/>
        </p:spPr>
      </p:sp>
      <p:sp>
        <p:nvSpPr>
          <p:cNvPr id="20" name="Text 18"/>
          <p:cNvSpPr/>
          <p:nvPr/>
        </p:nvSpPr>
        <p:spPr>
          <a:xfrm>
            <a:off x="1092150" y="3518214"/>
            <a:ext cx="1030793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0B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Import Excel pipeline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2150" y="3838194"/>
            <a:ext cx="10307930" cy="274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4F6F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Upload file → validate → save to daily_demand → backtest 9 models → forecasts → dashboard refreshes by itself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767" y="6238295"/>
            <a:ext cx="25691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A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Medicine Inventory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7" y="609533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Operations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767" y="1935262"/>
            <a:ext cx="3662680" cy="772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3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first screen shows the whole inventory picture, computed live from PostgreSQL.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1911" y="2808883"/>
            <a:ext cx="3648202" cy="1585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218 of 1,000 items below reorder point</a:t>
            </a:r>
            <a:endParaRPr lang="en-US" sz="1300" dirty="0"/>
          </a:p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378 open alerts, 48 lots expiring within 90 days</a:t>
            </a:r>
            <a:endParaRPr lang="en-US" sz="1300" dirty="0"/>
          </a:p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Forecast coverage 973 of 1,000; 27 new medicines flagged</a:t>
            </a:r>
            <a:endParaRPr lang="en-US" sz="1300" dirty="0"/>
          </a:p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Replenishment risk table, most urgent first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24301" y="1310514"/>
            <a:ext cx="6654767" cy="36830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</p:sp>
      <p:pic>
        <p:nvPicPr>
          <p:cNvPr id="6" name="Image 0" descr="Operations dashboard with key counts and the replenishment risk 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651" y="1541656"/>
            <a:ext cx="6642067" cy="32207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27476" y="1313689"/>
            <a:ext cx="6648417" cy="3676650"/>
          </a:xfrm>
          <a:prstGeom prst="roundRect">
            <a:avLst>
              <a:gd name="adj" fmla="val 2677"/>
            </a:avLst>
          </a:prstGeom>
          <a:noFill/>
          <a:ln w="6350">
            <a:solidFill>
              <a:srgbClr val="D9DF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2767" y="6238295"/>
            <a:ext cx="2571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A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Medicine Inventory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7" y="609533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Medicine detail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767" y="1823889"/>
            <a:ext cx="3662680" cy="772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3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medicine in full: stock, reorder point and the reasoning behind every number.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1911" y="2697510"/>
            <a:ext cx="3648202" cy="1808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hand, days of coverage, projected stockout date</a:t>
            </a:r>
            <a:endParaRPr lang="en-US" sz="1300" dirty="0"/>
          </a:p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Reorder point = lead-time demand + z × RMSE × √L</a:t>
            </a:r>
            <a:endParaRPr lang="en-US" sz="1300" dirty="0"/>
          </a:p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Suggested order and stock by warehouse</a:t>
            </a:r>
            <a:endParaRPr lang="en-US" sz="1300" dirty="0"/>
          </a:p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 the forecast model used and its error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24301" y="1310514"/>
            <a:ext cx="6654767" cy="36830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</p:sp>
      <p:pic>
        <p:nvPicPr>
          <p:cNvPr id="6" name="Image 0" descr="Detail page for Lisinopril 10 mg with reorder point calcul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651" y="1573219"/>
            <a:ext cx="6642067" cy="31575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27476" y="1313689"/>
            <a:ext cx="6648417" cy="3676650"/>
          </a:xfrm>
          <a:prstGeom prst="roundRect">
            <a:avLst>
              <a:gd name="adj" fmla="val 2677"/>
            </a:avLst>
          </a:prstGeom>
          <a:noFill/>
          <a:ln w="6350">
            <a:solidFill>
              <a:srgbClr val="D9DF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2767" y="6238295"/>
            <a:ext cx="25789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A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Medicine Inventory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7" y="609532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Forecast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767" y="2269545"/>
            <a:ext cx="3662680" cy="772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3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Observed demand against the 90-day forecast, plus the backtest of all 9 models.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1911" y="3143166"/>
            <a:ext cx="3648202" cy="916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Rolling origin, 3 folds, 28-day horizon</a:t>
            </a:r>
            <a:endParaRPr lang="en-US" sz="1300" dirty="0"/>
          </a:p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MAPE, RMSE and MAE for every model</a:t>
            </a:r>
            <a:endParaRPr lang="en-US" sz="1300" dirty="0"/>
          </a:p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Lowest MAPE that beats Naive is selected</a:t>
            </a:r>
            <a:endParaRPr lang="en-US" sz="1300" dirty="0"/>
          </a:p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Example: ETS wins with 12.1% MAPE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24301" y="1310512"/>
            <a:ext cx="6654767" cy="36830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</p:sp>
      <p:pic>
        <p:nvPicPr>
          <p:cNvPr id="6" name="Image 0" descr="Demand forecast chart and backtest comparison table of 9 mode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651" y="1422385"/>
            <a:ext cx="6642067" cy="345925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27476" y="1313687"/>
            <a:ext cx="6648417" cy="3676650"/>
          </a:xfrm>
          <a:prstGeom prst="roundRect">
            <a:avLst>
              <a:gd name="adj" fmla="val 2677"/>
            </a:avLst>
          </a:prstGeom>
          <a:noFill/>
          <a:ln w="6350">
            <a:solidFill>
              <a:srgbClr val="D9DF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2767" y="6238295"/>
            <a:ext cx="257879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A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Medicine Inventory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7" y="609532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the best model is selected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42" y="1313687"/>
            <a:ext cx="3414216" cy="1689216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 w="6350">
            <a:solidFill>
              <a:srgbClr val="D9DFD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209" y="1518955"/>
            <a:ext cx="279383" cy="279383"/>
          </a:xfrm>
          <a:custGeom>
            <a:avLst/>
            <a:gdLst/>
            <a:ahLst/>
            <a:cxnLst/>
            <a:rect l="l" t="t" r="r" b="b"/>
            <a:pathLst>
              <a:path w="279383" h="279383">
                <a:moveTo>
                  <a:pt x="139692" y="0"/>
                </a:moveTo>
                <a:lnTo>
                  <a:pt x="139692" y="0"/>
                </a:lnTo>
                <a:arcTo hR="139692" wR="139692" stAng="16200000" swAng="5400000"/>
                <a:lnTo>
                  <a:pt x="279383" y="139692"/>
                </a:lnTo>
                <a:arcTo hR="139692" wR="139692" stAng="0" swAng="5400000"/>
                <a:lnTo>
                  <a:pt x="139692" y="279383"/>
                </a:lnTo>
                <a:arcTo hR="139692" wR="139692" stAng="5400000" swAng="5400000"/>
                <a:lnTo>
                  <a:pt x="0" y="139692"/>
                </a:lnTo>
                <a:arcTo hR="139692" wR="139692" stAng="10800000" swAng="5400000"/>
                <a:close/>
              </a:path>
            </a:pathLst>
          </a:custGeom>
          <a:solidFill>
            <a:srgbClr val="F0B32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21209" y="1887221"/>
            <a:ext cx="3093793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Last 365 days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1209" y="2180496"/>
            <a:ext cx="3093793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Fewer than 120 days: no forecast, marked insufficient_history, never shown as safe.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8892" y="1313687"/>
            <a:ext cx="3414216" cy="1689216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 w="6350">
            <a:solidFill>
              <a:srgbClr val="D9DF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4159" y="1518955"/>
            <a:ext cx="279383" cy="279383"/>
          </a:xfrm>
          <a:custGeom>
            <a:avLst/>
            <a:gdLst/>
            <a:ahLst/>
            <a:cxnLst/>
            <a:rect l="l" t="t" r="r" b="b"/>
            <a:pathLst>
              <a:path w="279383" h="279383">
                <a:moveTo>
                  <a:pt x="139692" y="0"/>
                </a:moveTo>
                <a:lnTo>
                  <a:pt x="139692" y="0"/>
                </a:lnTo>
                <a:arcTo hR="139692" wR="139692" stAng="16200000" swAng="5400000"/>
                <a:lnTo>
                  <a:pt x="279383" y="139692"/>
                </a:lnTo>
                <a:arcTo hR="139692" wR="139692" stAng="0" swAng="5400000"/>
                <a:lnTo>
                  <a:pt x="139692" y="279383"/>
                </a:lnTo>
                <a:arcTo hR="139692" wR="139692" stAng="5400000" swAng="5400000"/>
                <a:lnTo>
                  <a:pt x="0" y="139692"/>
                </a:lnTo>
                <a:arcTo hR="139692" wR="139692" stAng="10800000" swAng="5400000"/>
                <a:close/>
              </a:path>
            </a:pathLst>
          </a:custGeom>
          <a:solidFill>
            <a:srgbClr val="F0B32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94159" y="1887221"/>
            <a:ext cx="3093793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Hide and predict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4159" y="2180496"/>
            <a:ext cx="3093793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Hide the last 28 days, train on the rest, predict them and compare with reality.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61841" y="1313687"/>
            <a:ext cx="3414216" cy="1689216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 w="6350">
            <a:solidFill>
              <a:srgbClr val="D9DF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7108" y="1518955"/>
            <a:ext cx="279383" cy="279383"/>
          </a:xfrm>
          <a:custGeom>
            <a:avLst/>
            <a:gdLst/>
            <a:ahLst/>
            <a:cxnLst/>
            <a:rect l="l" t="t" r="r" b="b"/>
            <a:pathLst>
              <a:path w="279383" h="279383">
                <a:moveTo>
                  <a:pt x="139692" y="0"/>
                </a:moveTo>
                <a:lnTo>
                  <a:pt x="139692" y="0"/>
                </a:lnTo>
                <a:arcTo hR="139692" wR="139692" stAng="16200000" swAng="5400000"/>
                <a:lnTo>
                  <a:pt x="279383" y="139692"/>
                </a:lnTo>
                <a:arcTo hR="139692" wR="139692" stAng="0" swAng="5400000"/>
                <a:lnTo>
                  <a:pt x="139692" y="279383"/>
                </a:lnTo>
                <a:arcTo hR="139692" wR="139692" stAng="5400000" swAng="5400000"/>
                <a:lnTo>
                  <a:pt x="0" y="139692"/>
                </a:lnTo>
                <a:arcTo hR="139692" wR="139692" stAng="10800000" swAng="5400000"/>
                <a:close/>
              </a:path>
            </a:pathLst>
          </a:custGeom>
          <a:solidFill>
            <a:srgbClr val="F0B32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67108" y="1887221"/>
            <a:ext cx="3093793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Repeat 3 times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67108" y="2180496"/>
            <a:ext cx="3093793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folds from different starting points, so no model wins by luck.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5942" y="3161636"/>
            <a:ext cx="3414216" cy="1483502"/>
          </a:xfrm>
          <a:prstGeom prst="roundRect">
            <a:avLst>
              <a:gd name="adj" fmla="val 6635"/>
            </a:avLst>
          </a:prstGeom>
          <a:solidFill>
            <a:srgbClr val="FFFFFF"/>
          </a:solidFill>
          <a:ln w="6350">
            <a:solidFill>
              <a:srgbClr val="D9DF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1209" y="3366905"/>
            <a:ext cx="279383" cy="279383"/>
          </a:xfrm>
          <a:custGeom>
            <a:avLst/>
            <a:gdLst/>
            <a:ahLst/>
            <a:cxnLst/>
            <a:rect l="l" t="t" r="r" b="b"/>
            <a:pathLst>
              <a:path w="279383" h="279383">
                <a:moveTo>
                  <a:pt x="139692" y="0"/>
                </a:moveTo>
                <a:lnTo>
                  <a:pt x="139692" y="0"/>
                </a:lnTo>
                <a:arcTo hR="139692" wR="139692" stAng="16200000" swAng="5400000"/>
                <a:lnTo>
                  <a:pt x="279383" y="139692"/>
                </a:lnTo>
                <a:arcTo hR="139692" wR="139692" stAng="0" swAng="5400000"/>
                <a:lnTo>
                  <a:pt x="139692" y="279383"/>
                </a:lnTo>
                <a:arcTo hR="139692" wR="139692" stAng="5400000" swAng="5400000"/>
                <a:lnTo>
                  <a:pt x="0" y="139692"/>
                </a:lnTo>
                <a:arcTo hR="139692" wR="139692" stAng="10800000" swAng="5400000"/>
                <a:close/>
              </a:path>
            </a:pathLst>
          </a:custGeom>
          <a:solidFill>
            <a:srgbClr val="F0B32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1209" y="3735170"/>
            <a:ext cx="3093793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Score with 3 metrics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1209" y="4028446"/>
            <a:ext cx="3093793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MAPE, RMSE and MAE for every model and every medicine.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8892" y="3161636"/>
            <a:ext cx="3414216" cy="1483502"/>
          </a:xfrm>
          <a:prstGeom prst="roundRect">
            <a:avLst>
              <a:gd name="adj" fmla="val 6635"/>
            </a:avLst>
          </a:prstGeom>
          <a:solidFill>
            <a:srgbClr val="FFFFFF"/>
          </a:solidFill>
          <a:ln w="6350">
            <a:solidFill>
              <a:srgbClr val="D9DF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4159" y="3366905"/>
            <a:ext cx="279383" cy="279383"/>
          </a:xfrm>
          <a:custGeom>
            <a:avLst/>
            <a:gdLst/>
            <a:ahLst/>
            <a:cxnLst/>
            <a:rect l="l" t="t" r="r" b="b"/>
            <a:pathLst>
              <a:path w="279383" h="279383">
                <a:moveTo>
                  <a:pt x="139692" y="0"/>
                </a:moveTo>
                <a:lnTo>
                  <a:pt x="139692" y="0"/>
                </a:lnTo>
                <a:arcTo hR="139692" wR="139692" stAng="16200000" swAng="5400000"/>
                <a:lnTo>
                  <a:pt x="279383" y="139692"/>
                </a:lnTo>
                <a:arcTo hR="139692" wR="139692" stAng="0" swAng="5400000"/>
                <a:lnTo>
                  <a:pt x="139692" y="279383"/>
                </a:lnTo>
                <a:arcTo hR="139692" wR="139692" stAng="5400000" swAng="5400000"/>
                <a:lnTo>
                  <a:pt x="0" y="139692"/>
                </a:lnTo>
                <a:arcTo hR="139692" wR="139692" stAng="10800000" swAng="5400000"/>
                <a:close/>
              </a:path>
            </a:pathLst>
          </a:custGeom>
          <a:solidFill>
            <a:srgbClr val="F0B32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94159" y="3735170"/>
            <a:ext cx="3093793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Lowest MAPE beating Naive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94159" y="4028446"/>
            <a:ext cx="3093793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If none beats Naive, keep Naive. The winner is flagged is_selected.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61841" y="3161636"/>
            <a:ext cx="3414216" cy="1483502"/>
          </a:xfrm>
          <a:prstGeom prst="roundRect">
            <a:avLst>
              <a:gd name="adj" fmla="val 6635"/>
            </a:avLst>
          </a:prstGeom>
          <a:solidFill>
            <a:srgbClr val="FFFFFF"/>
          </a:solidFill>
          <a:ln w="6350">
            <a:solidFill>
              <a:srgbClr val="D9DF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67108" y="3366905"/>
            <a:ext cx="279383" cy="279383"/>
          </a:xfrm>
          <a:custGeom>
            <a:avLst/>
            <a:gdLst/>
            <a:ahLst/>
            <a:cxnLst/>
            <a:rect l="l" t="t" r="r" b="b"/>
            <a:pathLst>
              <a:path w="279383" h="279383">
                <a:moveTo>
                  <a:pt x="139692" y="0"/>
                </a:moveTo>
                <a:lnTo>
                  <a:pt x="139692" y="0"/>
                </a:lnTo>
                <a:arcTo hR="139692" wR="139692" stAng="16200000" swAng="5400000"/>
                <a:lnTo>
                  <a:pt x="279383" y="139692"/>
                </a:lnTo>
                <a:arcTo hR="139692" wR="139692" stAng="0" swAng="5400000"/>
                <a:lnTo>
                  <a:pt x="139692" y="279383"/>
                </a:lnTo>
                <a:arcTo hR="139692" wR="139692" stAng="5400000" swAng="5400000"/>
                <a:lnTo>
                  <a:pt x="0" y="139692"/>
                </a:lnTo>
                <a:arcTo hR="139692" wR="139692" stAng="10800000" swAng="5400000"/>
                <a:close/>
              </a:path>
            </a:pathLst>
          </a:custGeom>
          <a:solidFill>
            <a:srgbClr val="F0B32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67108" y="3735170"/>
            <a:ext cx="3093793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0"/>
              </a:lnSpc>
              <a:buNone/>
            </a:pPr>
            <a:r>
              <a:rPr lang="en-US" sz="1400" b="1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Recompute and store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67108" y="4028446"/>
            <a:ext cx="3093793" cy="43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Save the 90-day forecast, then refresh ROP, coverage, alerts and PO drafts.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2767" y="6238295"/>
            <a:ext cx="25800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A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Medicine Inventory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7" y="609532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Alerts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767" y="2393981"/>
            <a:ext cx="3662680" cy="523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3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Alerts are raised automatically and someone must review each one.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1911" y="3018730"/>
            <a:ext cx="3648202" cy="916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Stockout 3, below ROP 215, at risk 85</a:t>
            </a:r>
            <a:endParaRPr lang="en-US" sz="1300" dirty="0"/>
          </a:p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Expiry 48, insufficient history 27</a:t>
            </a:r>
            <a:endParaRPr lang="en-US" sz="1300" dirty="0"/>
          </a:p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Open, acknowledged and resolved views</a:t>
            </a:r>
            <a:endParaRPr lang="en-US" sz="1300" dirty="0"/>
          </a:p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Acknowledge or resolve with one click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24301" y="1310512"/>
            <a:ext cx="6654767" cy="36830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</p:sp>
      <p:pic>
        <p:nvPicPr>
          <p:cNvPr id="6" name="Image 0" descr="Alerts page with counts by type and the open alerts 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651" y="1366957"/>
            <a:ext cx="6642067" cy="3570111"/>
          </a:xfrm>
          <a:custGeom>
            <a:avLst/>
            <a:gdLst/>
            <a:ahLst/>
            <a:cxnLst/>
            <a:rect l="l" t="t" r="r" b="b"/>
            <a:pathLst>
              <a:path w="6642067" h="3570111">
                <a:moveTo>
                  <a:pt x="0" y="45155"/>
                </a:moveTo>
                <a:arcTo wR="95250" hR="95250" stAng="10800000" swAng="1697939"/>
                <a:lnTo>
                  <a:pt x="6630683" y="0"/>
                </a:lnTo>
                <a:arcTo wR="95250" hR="95250" stAng="19902061" swAng="1697939"/>
                <a:lnTo>
                  <a:pt x="6642067" y="3524955"/>
                </a:lnTo>
                <a:arcTo wR="95250" hR="95250" stAng="0" swAng="1697939"/>
                <a:lnTo>
                  <a:pt x="11384" y="3570111"/>
                </a:lnTo>
                <a:arcTo wR="95250" hR="95250" stAng="9102061" swAng="1697939"/>
                <a:close/>
              </a:path>
            </a:pathLst>
          </a:custGeom>
        </p:spPr>
      </p:pic>
      <p:sp>
        <p:nvSpPr>
          <p:cNvPr id="7" name="Shape 4"/>
          <p:cNvSpPr/>
          <p:nvPr/>
        </p:nvSpPr>
        <p:spPr>
          <a:xfrm>
            <a:off x="4727476" y="1313687"/>
            <a:ext cx="6648417" cy="3676650"/>
          </a:xfrm>
          <a:prstGeom prst="roundRect">
            <a:avLst>
              <a:gd name="adj" fmla="val 2677"/>
            </a:avLst>
          </a:prstGeom>
          <a:noFill/>
          <a:ln w="6350">
            <a:solidFill>
              <a:srgbClr val="D9DF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2767" y="6238295"/>
            <a:ext cx="25638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A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Medicine Inventory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7" y="609532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Purchasing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767" y="2046715"/>
            <a:ext cx="3662680" cy="772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3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system drafts purchase orders, but nothing is ordered without a pharmacist.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1911" y="2920336"/>
            <a:ext cx="3648202" cy="1362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303 drafts awaiting approval, 3.24M SAR estimated</a:t>
            </a:r>
            <a:endParaRPr lang="en-US" sz="1300" dirty="0"/>
          </a:p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Suggested quantity, supplier and estimated cost</a:t>
            </a:r>
            <a:endParaRPr lang="en-US" sz="1300" dirty="0"/>
          </a:p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Reason shown for every draft</a:t>
            </a:r>
            <a:endParaRPr lang="en-US" sz="1300" dirty="0"/>
          </a:p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Approve or reject each order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24301" y="1310512"/>
            <a:ext cx="6654767" cy="36830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</p:sp>
      <p:pic>
        <p:nvPicPr>
          <p:cNvPr id="6" name="Image 0" descr="Purchasing page with purchase order drafts awaiting pharmacist approv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651" y="1366957"/>
            <a:ext cx="6642067" cy="3570111"/>
          </a:xfrm>
          <a:custGeom>
            <a:avLst/>
            <a:gdLst/>
            <a:ahLst/>
            <a:cxnLst/>
            <a:rect l="l" t="t" r="r" b="b"/>
            <a:pathLst>
              <a:path w="6642067" h="3570111">
                <a:moveTo>
                  <a:pt x="0" y="45155"/>
                </a:moveTo>
                <a:arcTo wR="95250" hR="95250" stAng="10800000" swAng="1697939"/>
                <a:lnTo>
                  <a:pt x="6630683" y="0"/>
                </a:lnTo>
                <a:arcTo wR="95250" hR="95250" stAng="19902061" swAng="1697939"/>
                <a:lnTo>
                  <a:pt x="6642067" y="3524955"/>
                </a:lnTo>
                <a:arcTo wR="95250" hR="95250" stAng="0" swAng="1697939"/>
                <a:lnTo>
                  <a:pt x="11384" y="3570111"/>
                </a:lnTo>
                <a:arcTo wR="95250" hR="95250" stAng="9102061" swAng="1697939"/>
                <a:close/>
              </a:path>
            </a:pathLst>
          </a:custGeom>
        </p:spPr>
      </p:pic>
      <p:sp>
        <p:nvSpPr>
          <p:cNvPr id="7" name="Shape 4"/>
          <p:cNvSpPr/>
          <p:nvPr/>
        </p:nvSpPr>
        <p:spPr>
          <a:xfrm>
            <a:off x="4727476" y="1313687"/>
            <a:ext cx="6648417" cy="3676650"/>
          </a:xfrm>
          <a:prstGeom prst="roundRect">
            <a:avLst>
              <a:gd name="adj" fmla="val 2677"/>
            </a:avLst>
          </a:prstGeom>
          <a:noFill/>
          <a:ln w="6350">
            <a:solidFill>
              <a:srgbClr val="D9DF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2767" y="6238292"/>
            <a:ext cx="2579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A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Medicine Inventory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67" y="609532"/>
            <a:ext cx="10883460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B3D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Movements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767" y="1823889"/>
            <a:ext cx="3662680" cy="772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6231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stock change is a row in an append-only ledger that can never be edited.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1911" y="2697510"/>
            <a:ext cx="3648202" cy="1808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PostgreSQL trigger blocks UPDATE and DELETE</a:t>
            </a:r>
            <a:endParaRPr lang="en-US" sz="1300" dirty="0"/>
          </a:p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Receipts, issues, returns, transfers, write-offs</a:t>
            </a:r>
            <a:endParaRPr lang="en-US" sz="1300" dirty="0"/>
          </a:p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transaction updates ledger, lots, ROP and audit log</a:t>
            </a:r>
            <a:endParaRPr lang="en-US" sz="1300" dirty="0"/>
          </a:p>
          <a:p>
            <a:pPr algn="l" marL="168656" indent="-168656">
              <a:lnSpc>
                <a:spcPts val="1755"/>
              </a:lnSpc>
              <a:buSzPct val="100000"/>
              <a:buChar char="•"/>
            </a:pPr>
            <a:r>
              <a:rPr lang="en-US" sz="1300" dirty="0">
                <a:solidFill>
                  <a:srgbClr val="3346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Out-movements follow first-expiry-first-out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24301" y="1310512"/>
            <a:ext cx="6654767" cy="36830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</p:spPr>
      </p:sp>
      <p:pic>
        <p:nvPicPr>
          <p:cNvPr id="6" name="Image 0" descr="Movements page with the post-a-movement form and ledg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651" y="1366957"/>
            <a:ext cx="6642067" cy="3570111"/>
          </a:xfrm>
          <a:custGeom>
            <a:avLst/>
            <a:gdLst/>
            <a:ahLst/>
            <a:cxnLst/>
            <a:rect l="l" t="t" r="r" b="b"/>
            <a:pathLst>
              <a:path w="6642067" h="3570111">
                <a:moveTo>
                  <a:pt x="0" y="45155"/>
                </a:moveTo>
                <a:arcTo wR="95250" hR="95250" stAng="10800000" swAng="1697939"/>
                <a:lnTo>
                  <a:pt x="6630683" y="0"/>
                </a:lnTo>
                <a:arcTo wR="95250" hR="95250" stAng="19902061" swAng="1697939"/>
                <a:lnTo>
                  <a:pt x="6642067" y="3524955"/>
                </a:lnTo>
                <a:arcTo wR="95250" hR="95250" stAng="0" swAng="1697939"/>
                <a:lnTo>
                  <a:pt x="11384" y="3570111"/>
                </a:lnTo>
                <a:arcTo wR="95250" hR="95250" stAng="9102061" swAng="1697939"/>
                <a:close/>
              </a:path>
            </a:pathLst>
          </a:custGeom>
        </p:spPr>
      </p:pic>
      <p:sp>
        <p:nvSpPr>
          <p:cNvPr id="7" name="Shape 4"/>
          <p:cNvSpPr/>
          <p:nvPr/>
        </p:nvSpPr>
        <p:spPr>
          <a:xfrm>
            <a:off x="4727476" y="1313687"/>
            <a:ext cx="6648417" cy="3676650"/>
          </a:xfrm>
          <a:prstGeom prst="roundRect">
            <a:avLst>
              <a:gd name="adj" fmla="val 2677"/>
            </a:avLst>
          </a:prstGeom>
          <a:noFill/>
          <a:ln w="6350">
            <a:solidFill>
              <a:srgbClr val="D9DF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2767" y="6238292"/>
            <a:ext cx="25791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A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Medicine Inventory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67" y="6238292"/>
            <a:ext cx="26373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8C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Medicine Inventory · 10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3995374" y="1658689"/>
            <a:ext cx="10889933" cy="825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0B3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demo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 Medicine Inventory">
  <a:themeElements>
    <a:clrScheme name="Smart Medicine Inventory">
      <a:dk1>
        <a:srgbClr val="0B3D24"/>
      </a:dk1>
      <a:lt1>
        <a:srgbClr val="F4F6F3"/>
      </a:lt1>
      <a:dk2>
        <a:srgbClr val="456B58"/>
      </a:dk2>
      <a:lt2>
        <a:srgbClr val="DDE4DE"/>
      </a:lt2>
      <a:accent1>
        <a:srgbClr val="F0B323"/>
      </a:accent1>
      <a:accent2>
        <a:srgbClr val="33463A"/>
      </a:accent2>
      <a:accent3>
        <a:srgbClr val="6A7A70"/>
      </a:accent3>
      <a:accent4>
        <a:srgbClr val="C9D8CE"/>
      </a:accent4>
      <a:accent5>
        <a:srgbClr val="16231B"/>
      </a:accent5>
      <a:accent6>
        <a:srgbClr val="9AA0A6"/>
      </a:accent6>
      <a:hlink>
        <a:srgbClr val="0563C1"/>
      </a:hlink>
      <a:folHlink>
        <a:srgbClr val="954F72"/>
      </a:folHlink>
    </a:clrScheme>
    <a:fontScheme name="Smart Medicine Inventory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Medicine Inventory</dc:title>
  <dc:subject/>
  <dc:creator/>
  <cp:lastModifiedBy/>
  <cp:revision>1</cp:revision>
  <dcterms:created xsi:type="dcterms:W3CDTF">2026-10-18T09:58:38Z</dcterms:created>
  <dcterms:modified xsi:type="dcterms:W3CDTF">2026-10-18T09:58:38Z</dcterms:modified>
</cp:coreProperties>
</file>